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Anotador Funcional Proteico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D6E4FF"/>
                </a:solidFill>
              </a:rPr>
              <a:t>Análise automática de domínios funcionais em proteínas hipotéticas de clusters BGC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59352" cy="381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6E4FF"/>
                </a:solidFill>
              </a:rPr>
              <a:t>Thallyson Fontenelle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A93B5"/>
                </a:solidFill>
              </a:rPr>
              <a:t>FastAPI  ·  InterProScan EBI  · 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 e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O que são BGCs e por que proteínas hipotéticas são um desafio?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30352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89888"/>
            <a:ext cx="508406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6EF5"/>
                </a:solidFill>
              </a:rPr>
              <a:t>🧬  Clusters de Biossíntese (BGCs)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E7A"/>
                </a:solidFill>
              </a:rPr>
              <a:t>Regiões genômicas que codificam metabólitos secundários (antibióticos, sideróforos, toxinas). Identificados pelo antiSMASH, mas muitos genes ainda carecem de anotação funcional.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85216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389888"/>
            <a:ext cx="563270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6EF5"/>
                </a:solidFill>
              </a:rPr>
              <a:t>❓  Proteínas Hipotéticas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E7A"/>
                </a:solidFill>
              </a:rPr>
              <a:t>Proteínas previstas computacionalmente sem função conhecida. Podem ser enzimas-chave do BGC, mas ficam invisíveis nas análises tradicionais.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1430000" cy="1645920"/>
          </a:xfrm>
          <a:prstGeom prst="rect">
            <a:avLst/>
          </a:prstGeom>
          <a:solidFill>
            <a:srgbClr val="FFF0E8"/>
          </a:solidFill>
          <a:ln w="1270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2400E"/>
                </a:solidFill>
              </a:rPr>
              <a:t>⚠  O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92400E"/>
                </a:solidFill>
              </a:rPr>
              <a:t>▸ Sem anotação funcional, o potencial biotecnológico do BGC é subestimado.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2400E"/>
                </a:solidFill>
              </a:rPr>
              <a:t>▸ Múltiplos bancos de dados (Pfam, SMART, Gene3D…) precisam ser consultados manualmente.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92400E"/>
                </a:solidFill>
              </a:rPr>
              <a:t>▸ Redundâncias entre bancos dificultam a interpretação dos resultados.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Solução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Uma aplicação web que automatiza a anotação e organiza 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76072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554126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6EF5"/>
                </a:solidFill>
              </a:rPr>
              <a:t>⬆  Upload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4B5E7A"/>
                </a:solidFill>
              </a:rPr>
              <a:t>Arquivo .gbk ou .zip exportado do antiSMASH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76072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81328"/>
            <a:ext cx="554126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6EF5"/>
                </a:solidFill>
              </a:rPr>
              <a:t>🔍  Consulta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4B5E7A"/>
                </a:solidFill>
              </a:rPr>
              <a:t>InterProScan EBI consultado proteína a proteína em tempo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576072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767328"/>
            <a:ext cx="554126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6EF5"/>
                </a:solidFill>
              </a:rPr>
              <a:t>📊  Score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4B5E7A"/>
                </a:solidFill>
              </a:rPr>
              <a:t>Confiança V2 calculado com 4 critérios quantitativos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657600"/>
            <a:ext cx="576072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767328"/>
            <a:ext cx="554126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A6EF5"/>
                </a:solidFill>
              </a:rPr>
              <a:t>📥  Export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4B5E7A"/>
                </a:solidFill>
              </a:rPr>
              <a:t>ZIP com JSON, CSV e HTML standalone com modais interativos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E7A"/>
                </a:solidFill>
              </a:rPr>
              <a:t>Tudo rodando localmente via FastAPI — sem dados enviados a terceiros além do InterProScan.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3200400"/>
          </a:xfrm>
          <a:prstGeom prst="rect">
            <a:avLst/>
          </a:prstGeom>
          <a:solidFill>
            <a:srgbClr val="F0F4FA"/>
          </a:solidFill>
          <a:ln w="1905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BF"/>
                </a:solidFill>
              </a:rPr>
              <a:t>🌐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HTML / CSS / JS
SPA sem framework
JSZip para export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566160" cy="3200400"/>
          </a:xfrm>
          <a:prstGeom prst="rect">
            <a:avLst/>
          </a:prstGeom>
          <a:solidFill>
            <a:srgbClr val="F0F4FA"/>
          </a:solidFill>
          <a:ln w="1905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BF"/>
                </a:solidFill>
              </a:rPr>
              <a:t>⚙  Backend
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main.py  ·  Pydantic
SSE (StreamingResponse)
StaticFiles
utils.py / models.py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566160" cy="3200400"/>
          </a:xfrm>
          <a:prstGeom prst="rect">
            <a:avLst/>
          </a:prstGeom>
          <a:solidFill>
            <a:srgbClr val="F0F4FA"/>
          </a:solidFill>
          <a:ln w="1905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5087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BF"/>
                </a:solidFill>
              </a:rPr>
              <a:t>🔬  InterProScan
(EBI 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iprscan5/run
iprscan5/status
iprscan5/result/json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EF5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solidFill>
            <a:srgbClr val="D6E4FF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3DBF"/>
                </a:solidFill>
              </a:rPr>
              <a:t>Fluxo:  POST /api/analyze-antismash-selected-stream  →  SSE events  →  Frontend atualiza progresso  →  Resultados renderizados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Fluxo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Do arquivo antiSMASH aos resultados anotados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Upload do arquivo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.gbk ou .zip exportado diretamente do antiSMASH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1732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Contagem automática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Extração e deduplicação das proteínas hipotéticas do BGC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3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632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Seleção manual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Usuário escolhe quantas proteínas analisar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08960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06323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0632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Análise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Barra de progresso com SSE — proteína atual, tempo decorrido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754879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70915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Cards por proteína: domínios agrupados por banco, score de confiança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79"/>
            <a:ext cx="502920" cy="50292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09159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7091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Exportação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074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Download do ZIP com JSON, CSV e HTML standalone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Bancos de Dados Consultados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InterProScan integra múltiplos bancos em uma única consulta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0" cy="32004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🔵  Domínios Funcionais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Pfam  ·  SMART  ·  PROSITE  ·  PANTHER  ·  PRINTS  ·  PIRSF  ·  PIRSR  ·  HAMAP  ·  TIGERFAM  ·  SFLD  ·  CDD  ·  NCBIFAM  ·  FunFam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86000"/>
            <a:ext cx="1143000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 Domínios Estruturais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Gene3D  ·  SUPERFAMILY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1430000" cy="3200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 Topologia / Localização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301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Phobius  ·  TMHMM  ·  SignalP-EUK  ·  SignalP-Gram+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06240"/>
            <a:ext cx="11430000" cy="3200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33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 Características Estruturais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90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Coils  ·  MobiDB-lite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B5E7A"/>
                </a:solidFill>
              </a:rPr>
              <a:t>Cada banco retorna: acession, name, e-value, posição (start–end), entrada InterPro associada.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Score de Confiança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Pontuação de 0–100 baseada em 4 critérios independentes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6EF5"/>
                </a:solidFill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Diversidade de Bancos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Quantos bancos distintos identificaram domínios. Máx. 25 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66928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6EF5"/>
                </a:solidFill>
              </a:rP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08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Qualidade por E-value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Proporção de domínios com e-value ≤ 1e-5 (alta confiança estatística). Máx. 25 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566928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6EF5"/>
                </a:solidFill>
              </a:rPr>
              <a:t>C3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118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Suporte InterPro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Domínios com entrada InterPro associada têm maior curadoria. Máx. 25 pts.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66928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844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6EF5"/>
                </a:solidFill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118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Consenso Posicional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Domínios de bancos diferentes que se sobrepõem na sequência reforçam o sinal. Máx. 25 pts.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52160"/>
            <a:ext cx="11430000" cy="685800"/>
          </a:xfrm>
          <a:prstGeom prst="rect">
            <a:avLst/>
          </a:prstGeom>
          <a:solidFill>
            <a:srgbClr val="D6E4FF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3DBF"/>
                </a:solidFill>
              </a:rPr>
              <a:t>Score = C1 + C2 + C3 + C4   (0–100)   →   Alto ≥ 75  ·  Médio 45–74  ·  Baixo &lt;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Progresso em Tempo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Server-Sent Events (SSE) para feedback contínuo ao usuário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347472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BF"/>
                </a:solidFill>
              </a:rPr>
              <a:t>⚡  Como funciona o 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Conexão HTTP persistente (GET ou POST streaming)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Backend envia eventos text/event-stream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Frontend (EventSource) recebe sem polling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Cada proteína gera: start → progress → done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Sem WebSocket — funciona em HTTP/1.1 simples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347472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E4FF"/>
                </a:solidFill>
              </a:rPr>
              <a:t>📊  Painel de Progresso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3B5"/>
                </a:solidFill>
              </a:rPr>
              <a:t>Proteína atual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0116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FWK04_01250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237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3B5"/>
                </a:solidFill>
              </a:rPr>
              <a:t>Progresso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52374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/ 12 proteínas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358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3B5"/>
                </a:solidFill>
              </a:rPr>
              <a:t>Tempo decorrido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035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4m 32s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478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3B5"/>
                </a:solidFill>
              </a:rPr>
              <a:t>Estimativa restante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5478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~13m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599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3B5"/>
                </a:solidFill>
              </a:rPr>
              <a:t>Tempo mín / máx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05993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1m 10s  /  8m 45s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74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B5E7A"/>
                </a:solidFill>
              </a:rPr>
              <a:t>O timer é calculado no frontend com base nos timestamps dos eventos SSE recebidos.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Exportação de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Arquivo .zip com três formatos complementares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EF5"/>
                </a:solidFill>
              </a:rPr>
              <a:t>📄 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E7A"/>
                </a:solidFill>
              </a:rPr>
              <a:t>Estrutura completa da análise: todas as proteínas, todos os domínios, scores, e-values. Ideal para reprocessamento ou integração com outros pipelines.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17520"/>
            <a:ext cx="1143000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EF5"/>
                </a:solidFill>
              </a:rPr>
              <a:t>📊 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E7A"/>
                </a:solidFill>
              </a:rPr>
              <a:t>Tabela plana com uma linha por domínio: proteína, banco, acession, e-value, posição. Pronto para abrir no Excel ou importar no R/Python.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63440"/>
            <a:ext cx="11430000" cy="14630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548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EF5"/>
                </a:solidFill>
              </a:rPr>
              <a:t>🌐  HTML Standalone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79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E7A"/>
                </a:solidFill>
              </a:rPr>
              <a:t>Página completa com modais interativos funcionando sem servidor. Inclui todo o CSS e JavaScript inline — basta abrir no navegador para navegar pelos resultados.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B5E7A"/>
                </a:solidFill>
              </a:rPr>
              <a:t>O ZIP é gerado inteiramente no cliente (JSZip) — nenhum arquivo é armazenado no servidor.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Caso de Uso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Genoma GCA_016743225.1 — Streptomyces sp.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51760" cy="164592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1554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F"/>
                </a:solidFill>
              </a:rPr>
              <a:t>proteínas extraídas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F"/>
                </a:solidFill>
              </a:rPr>
              <a:t>hipotéticas únicas
(presentes em ≥2 BGCs)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164592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F"/>
                </a:solidFill>
              </a:rPr>
              <a:t>analisadas
(seleção manual)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651760" cy="164592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63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~65%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4FF"/>
                </a:solidFill>
              </a:rPr>
              <a:t>com domínio
identificado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11430000" cy="237744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BF"/>
                </a:solidFill>
              </a:rPr>
              <a:t>Distribuição de Confiança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Alta  (≥75)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8862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47857"/>
                </a:solidFill>
              </a:rPr>
              <a:t>████████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86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4 proteínas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06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Média (45–74)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30682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2400E"/>
                </a:solidFill>
              </a:rPr>
              <a:t>█████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3068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3 proteínas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Baixa  (&lt;45)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727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392B"/>
                </a:solidFill>
              </a:rPr>
              <a:t>███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7274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2 proteínas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4807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Nenhum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1480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██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14807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3 proteínas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Notebooks Jupyter / Colab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F"/>
                </a:solidFill>
              </a:rPr>
              <a:t>Versão anterior — útil para análises exploratórias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11827"/>
                </a:solidFill>
              </a:rPr>
              <a:t>Antes da aplicação web, o pipeline existia como dois notebooks independentes: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39496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029968"/>
            <a:ext cx="517550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6EF5"/>
                </a:solidFill>
              </a:rPr>
              <a:t>📓  anotador_proteico_colab_antismash.ipynb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E7A"/>
                </a:solidFill>
              </a:rPr>
              <a:t>Pipeline completo para análise de BGCs a partir de arquivo antiSMASH. Executa no Google Colab sem instalação local.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920240"/>
            <a:ext cx="5669280" cy="2011680"/>
          </a:xfrm>
          <a:prstGeom prst="rect">
            <a:avLst/>
          </a:prstGeom>
          <a:solidFill>
            <a:srgbClr val="F0F4FA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029968"/>
            <a:ext cx="5449824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6EF5"/>
                </a:solidFill>
              </a:rPr>
              <a:t>📓  anotador_proteico_interpro_single_sequence.ipynb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4B5E7A"/>
                </a:solidFill>
              </a:rPr>
              <a:t>Análise de sequência única via InterProScan. Útil para testes rápidos ou análises pontuais.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51960"/>
            <a:ext cx="11430000" cy="1371600"/>
          </a:xfrm>
          <a:prstGeom prst="rect">
            <a:avLst/>
          </a:prstGeom>
          <a:solidFill>
            <a:srgbClr val="D6E4FF"/>
          </a:solidFill>
          <a:ln w="1270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3DBF"/>
                </a:solidFill>
              </a:rPr>
              <a:t>💡  Por que manter os notebooks?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11827"/>
                </a:solidFill>
              </a:rPr>
              <a:t>▸ Permitem experimentação e modificação direta do pipeline sem interface web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11827"/>
                </a:solidFill>
              </a:rPr>
              <a:t>▸ Facilitam integração com outros workflows bioinformáticos no Colab/Jupyter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Conclusão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4389120"/>
          </a:xfrm>
          <a:prstGeom prst="rect">
            <a:avLst/>
          </a:prstGeom>
          <a:solidFill>
            <a:srgbClr val="F0F4FA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47857"/>
                </a:solidFill>
              </a:rPr>
              <a:t>✅  O que a ferramenta resolve hoje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Automatiza consulta a 17+ bancos de domínios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Elimina redundâncias entre bancos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Score de confiança quantitativo e rastreável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Progresso em tempo real via SSE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Exportação em 3 formatos (JSON, CSV, HTML)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Roda localmente — controle total dos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577840" cy="4389120"/>
          </a:xfrm>
          <a:prstGeom prst="rect">
            <a:avLst/>
          </a:prstGeom>
          <a:solidFill>
            <a:srgbClr val="F0F4FA"/>
          </a:solidFill>
          <a:ln w="19050">
            <a:solidFill>
              <a:srgbClr val="1A6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EF5"/>
                </a:solidFill>
              </a:rPr>
              <a:t>🚀  Próximos Passos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Suporte a FASTA multi-sequência direto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Integração com BLAST (similaridade de sequência)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Visualizador de domínios ao longo da sequência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Autenticação para uso compartilhado (lab)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Cache de resultados para re-análise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11827"/>
                </a:solidFill>
              </a:rPr>
              <a:t>▸ Exportação em formato GenBank anotado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B5E7A"/>
                </a:solidFill>
              </a:rPr>
              <a:t>O projeto é open-source e está disponível no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3D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25400"/>
          </a:xfrm>
          <a:prstGeom prst="rect">
            <a:avLst/>
          </a:prstGeom>
          <a:solidFill>
            <a:srgbClr val="1A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5E7A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5"/>
                </a:solidFill>
              </a:rPr>
              <a:t>InterProScan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Paysan-Lafosse T. et al. (2023). InterPro in 2022. Nucleic Acids Research, 51(D1), D418–D427. https://www.ebi.ac.uk/interpro/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76272"/>
            <a:ext cx="11430000" cy="12700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5"/>
                </a:solidFill>
              </a:rPr>
              <a:t>antiSMASH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Blin K. et al. (2023). antiSMASH 7.0: new and improved predictions for detection, regulation, and visualisation. Nucleic Acids Research, 51(W1), W46–W50. https://antismash.secondarymetabolites.org/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36391"/>
            <a:ext cx="11430000" cy="12700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3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5"/>
                </a:solidFill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1187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Ramírez, S. FastAPI. https://fastapi.tiangolo.com/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96511"/>
            <a:ext cx="11430000" cy="12700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25195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5"/>
                </a:solidFill>
              </a:rPr>
              <a:t>BioPython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199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Cock P.J.A. et al. (2009). Biopython: freely available Python tools for computational molecular biology. Bioinformatics, 25(11), 1422–1423. https://biopython.org/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56631"/>
            <a:ext cx="11430000" cy="12700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521207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5"/>
                </a:solidFill>
              </a:rPr>
              <a:t>python-pptx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3211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E7A"/>
                </a:solidFill>
              </a:rPr>
              <a:t>https://python-pptx.readthedocs.io/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016751"/>
            <a:ext cx="11430000" cy="12700"/>
          </a:xfrm>
          <a:prstGeom prst="rect">
            <a:avLst/>
          </a:prstGeom>
          <a:solidFill>
            <a:srgbClr val="DD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